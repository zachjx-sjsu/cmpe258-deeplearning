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24128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Single-Image 3D World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94944" y="2514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8C"/>
                </a:solidFill>
              </a:rPr>
              <a:t>Technical route: hybrid depth / point-cloud / mesh + 3D Gaussian Splatting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944" y="294436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</a:rPr>
              <a:t>Main paper: Schwarz et al., “A Recipe for Generating 3D Worlds From a Single Image,” ICCV 2025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4944" y="37947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3881628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D8C"/>
                </a:solidFill>
              </a:rPr>
              <a:t>Survey focus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29968" y="3794760"/>
            <a:ext cx="1481328" cy="347472"/>
          </a:xfrm>
          <a:prstGeom prst="roundRect">
            <a:avLst>
              <a:gd name="adj" fmla="val 15789"/>
            </a:avLst>
          </a:prstGeom>
          <a:solidFill>
            <a:srgbClr val="EDF4EC"/>
          </a:solidFill>
          <a:ln w="12700">
            <a:solidFill>
              <a:srgbClr val="EDF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8816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8C5A"/>
                </a:solidFill>
              </a:rPr>
              <a:t>Recent publication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75888" y="379476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4ECE6"/>
          </a:solidFill>
          <a:ln w="12700">
            <a:solidFill>
              <a:srgbClr val="F4EC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88162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B3B"/>
                </a:solidFill>
              </a:rPr>
              <a:t>3DGS route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818120" y="685800"/>
            <a:ext cx="3886200" cy="539496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14" name="Image 0" descr="/mnt/data/user-WffN4RxQCkRYLRNh7D9IRj0F__4c6e2ded-a526-47e1-b710-6cf012832df0/0df5816f9c8148b182f480a8fdc11b78/mnt/data/figs/recipe_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731520"/>
            <a:ext cx="3794760" cy="5303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737B88"/>
                </a:solidFill>
              </a:rPr>
              <a:t>Figures reproduced for survey discussion from Schwarz et al., ICCV 2025.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technology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Applications motivate why the field is moving from “pretty views” to persistent, explorable 3D worlds.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904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Immersive media &amp; VR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1856232"/>
            <a:ext cx="23317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Turn a casual photo or prompt into a navigable environment for VR, virtual tourism, storytelling, and spatial computing.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1325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325880"/>
            <a:ext cx="73152" cy="18288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14904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Simulation &amp; synthetic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0168" y="1856232"/>
            <a:ext cx="23317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Generate diverse scene assets for training embodied agents, perception models, and autonomous systems under controlled variation.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325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73152" cy="1828800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4904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Game / content creation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4808" y="1856232"/>
            <a:ext cx="23317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Bootstrap environments, backgrounds, and explorable concept spaces without fully manual 3D modeling.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98280" y="132588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98280" y="1325880"/>
            <a:ext cx="73152" cy="182880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14904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Digital twins &amp; editing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99448" y="1856232"/>
            <a:ext cx="2148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Rapidly reconstruct or complete rooms, outdoor spaces, and environments from sparse captures for editing and visualization.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10789920" cy="141732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C"/>
                </a:solidFill>
              </a:rPr>
              <a:t>Motivating gap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096512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1821"/>
                </a:solidFill>
              </a:rPr>
              <a:t>Existing 2D generative models imagine rich scenes, but applications need worlds that are spatially coherent, renderable from new viewpoints, and eventually interactive. Hybrid geometry + 3DGS pipelines are a practical bridge.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737B88"/>
                </a:solidFill>
              </a:rPr>
              <a:t>Application framing: VR/spatial media, simulation/data generation, content creation, digital twin workflows.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requirements shape the technical route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A convincing 3D world needs more than photorealistic frames: it needs geometry, persistence, and fast rendering.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00200"/>
            <a:ext cx="384048" cy="384048"/>
          </a:xfrm>
          <a:prstGeom prst="rect">
            <a:avLst/>
          </a:prstGeom>
          <a:solidFill>
            <a:srgbClr val="2F5D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21"/>
                </a:solidFill>
              </a:rPr>
              <a:t>Visual realism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Strong 2D diffusion priors hallucinate plausible unseen regions.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379476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88162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D8C"/>
                </a:solidFill>
              </a:rPr>
              <a:t>2D generative models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0" y="14173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39312" y="1600200"/>
            <a:ext cx="384048" cy="384048"/>
          </a:xfrm>
          <a:prstGeom prst="rect">
            <a:avLst/>
          </a:prstGeom>
          <a:solidFill>
            <a:srgbClr val="2F5D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21"/>
                </a:solidFill>
              </a:rPr>
              <a:t>Spatial coherence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9312" y="2606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Depth, point clouds, and mesh cues keep generated content tied to camera motion.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39312" y="379476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388162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D8C"/>
                </a:solidFill>
              </a:rPr>
              <a:t>Geometry scaffold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1600200"/>
            <a:ext cx="384048" cy="384048"/>
          </a:xfrm>
          <a:prstGeom prst="rect">
            <a:avLst/>
          </a:prstGeom>
          <a:solidFill>
            <a:srgbClr val="5B8C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21"/>
                </a:solidFill>
              </a:rPr>
              <a:t>Interactive rendering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2606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3DGS provides fast novel-view rendering for exploration and VR-like display.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73952" y="379476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DF4EC"/>
          </a:solidFill>
          <a:ln w="12700">
            <a:solidFill>
              <a:srgbClr val="EDF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88162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8C5A"/>
                </a:solidFill>
              </a:rPr>
              <a:t>3D representation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0" y="14173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08592" y="1600200"/>
            <a:ext cx="384048" cy="384048"/>
          </a:xfrm>
          <a:prstGeom prst="rect">
            <a:avLst/>
          </a:prstGeom>
          <a:solidFill>
            <a:srgbClr val="B86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08592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21"/>
                </a:solidFill>
              </a:rPr>
              <a:t>Toward interaction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08592" y="2606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Future systems need object identities, collision proxies, and physical state.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08592" y="379476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F4ECE6"/>
          </a:solidFill>
          <a:ln w="12700">
            <a:solidFill>
              <a:srgbClr val="F4EC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1744" y="388162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B3B"/>
                </a:solidFill>
              </a:rPr>
              <a:t>Physical layer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97480" y="2926080"/>
            <a:ext cx="548640" cy="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532120" y="2926080"/>
            <a:ext cx="548640" cy="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66760" y="2926080"/>
            <a:ext cx="548640" cy="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60120" y="5166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D8C"/>
                </a:solidFill>
              </a:rPr>
              <a:t>Survey lens: the hybrid route is promising because it assigns each requirement to a representation that is good at it.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Evolution: view synthesis → world generation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The field moved from local novel views toward persistent, explorable scene assets.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Local NVS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24414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Render unseen nearby views from observed images.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99232" y="2450592"/>
            <a:ext cx="411480" cy="0"/>
          </a:xfrm>
          <a:prstGeom prst="line">
            <a:avLst/>
          </a:prstGeom>
          <a:noFill/>
          <a:ln w="1905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18288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Perpetual view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66744" y="24414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Extrapolate a camera path far beyond the input image.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88152" y="2450592"/>
            <a:ext cx="411480" cy="0"/>
          </a:xfrm>
          <a:prstGeom prst="line">
            <a:avLst/>
          </a:prstGeom>
          <a:noFill/>
          <a:ln w="1905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Text/image-to-3D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24414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Use 2D generative priors to optimize or synthesize 3D content.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77072" y="2450592"/>
            <a:ext cx="411480" cy="0"/>
          </a:xfrm>
          <a:prstGeom prst="line">
            <a:avLst/>
          </a:prstGeom>
          <a:noFill/>
          <a:ln w="1905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98280" y="18288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4584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3DGS worlds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44584" y="24414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Build explicit, real-time explorable scene representations.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C"/>
                </a:solidFill>
              </a:rPr>
              <a:t>Key transition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65960" y="3941064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21"/>
                </a:solidFill>
              </a:rPr>
              <a:t>The output target changes from a generated frame sequence to a persistent 3D asset that can be viewed from new camera poses.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hybrid route sits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A balanced route: diffusion for imagination, geometry for structure, 3DGS for interactive rendering.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652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99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Pure video / panorama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3990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Excellent visual priors; weak persistent 3D consistency.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372600" y="146304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DF4EC"/>
          </a:solidFill>
          <a:ln w="12700">
            <a:solidFill>
              <a:srgbClr val="EDF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45752" y="154990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8C5A"/>
                </a:solidFill>
              </a:rPr>
              <a:t>Not enough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10652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496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Depth / point cloud / mesh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4963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Geometric grounding; sparse, incomplete, not photorealistic alone.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72600" y="25603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DF4EC"/>
          </a:solidFill>
          <a:ln w="12700">
            <a:solidFill>
              <a:srgbClr val="EDF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5752" y="26471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8C5A"/>
                </a:solidFill>
              </a:rPr>
              <a:t>Scaffold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10652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93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3D Gaussian Splatting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5935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Fast, explicit radiance primitives for interactive rendering.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72600" y="36576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DF4EC"/>
          </a:solidFill>
          <a:ln w="12700">
            <a:solidFill>
              <a:srgbClr val="EDF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5752" y="374446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8C5A"/>
                </a:solidFill>
              </a:rPr>
              <a:t>Output asset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10652760" cy="82296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C7D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690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C"/>
                </a:solidFill>
              </a:rPr>
              <a:t>Hybrid route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46908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Combines generative completion, geometry, and real-time 3D rendering.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72600" y="475488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484174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D8C"/>
                </a:solidFill>
              </a:rPr>
              <a:t>Chosen route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Foundation: Infinite Nature (ICCV 2021)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The early “render, refine, repeat” idea that anticipates modern hybrid world pipelines.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1792" y="1143000"/>
            <a:ext cx="6400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7" name="Image 0" descr="/mnt/data/user-WffN4RxQCkRYLRNh7D9IRj0F__4c6e2ded-a526-47e1-b710-6cf012832df0/0df5816f9c8148b182f480a8fdc11b78/mnt/data/figs/infinite_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" y="1188720"/>
            <a:ext cx="630936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234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60920" y="1234440"/>
            <a:ext cx="73152" cy="100584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399032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Problem framing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62088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Generate long camera trajectories from a single image, not just nearby novel views.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60920" y="2487168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60920" y="2487168"/>
            <a:ext cx="73152" cy="100584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62088" y="2651760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Technical pattern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6208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Render with estimated geometry, refine/inpaint missing regions, update the scene, then repeat.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60920" y="3739896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60920" y="3739896"/>
            <a:ext cx="73152" cy="1005840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62088" y="390448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Limitation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62088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Produces plausible fly-throughs, but not a globally persistent 3D world asset.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737B88"/>
                </a:solidFill>
              </a:rPr>
              <a:t>Liu et al., “Infinite Nature: Perpetual View Generation of Natural Scenes from a Single Image,” ICCV 2021.</a:t>
            </a:r>
            <a:endParaRPr lang="en-US" sz="6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paper: A Recipe for Generating 3D Worlds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Schwarz et al., ICCV 2025: single image → immersive 360° 3DGS world.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7" name="Image 0" descr="/mnt/data/user-WffN4RxQCkRYLRNh7D9IRj0F__4c6e2ded-a526-47e1-b710-6cf012832df0/0df5816f9c8148b182f480a8fdc11b78/mnt/data/figs/recipe_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24712"/>
            <a:ext cx="548640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0" y="1143000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143000"/>
            <a:ext cx="73152" cy="9144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30568" y="1307592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Why this is the main paper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30568" y="1673352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It directly targets single-image-to-3D-world generation using the exact hybrid route.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29400" y="2286000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286000"/>
            <a:ext cx="73152" cy="9144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30568" y="2450592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Core decomposition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30568" y="2816352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Panorama synthesis + metric depth + point-cloud-conditioned inpainting + 3DGS rendering.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29400" y="3429000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29400" y="3429000"/>
            <a:ext cx="73152" cy="914400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0568" y="3593592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Research value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30568" y="3959352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It converts a hard monolithic task into a pipeline of specialized models and representations.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737B88"/>
                </a:solidFill>
              </a:rPr>
              <a:t>Schwarz et al., “A Recipe for Generating 3D Worlds From a Single Image,” ICCV 2025.</a:t>
            </a:r>
            <a:endParaRPr lang="en-US" sz="6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Pipeline: a practical recipe for world construction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The system does not train one monolithic world model; it chains specialized modules.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609344"/>
            <a:ext cx="292608" cy="292608"/>
          </a:xfrm>
          <a:prstGeom prst="rect">
            <a:avLst/>
          </a:prstGeom>
          <a:solidFill>
            <a:srgbClr val="2F5D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202996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821"/>
                </a:solidFill>
              </a:rPr>
              <a:t>Input image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A6475"/>
                </a:solidFill>
              </a:rPr>
              <a:t>Observed narrow-FOV view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350008" y="2084832"/>
            <a:ext cx="310896" cy="0"/>
          </a:xfrm>
          <a:prstGeom prst="line">
            <a:avLst/>
          </a:prstGeom>
          <a:noFill/>
          <a:ln w="1905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609344"/>
            <a:ext cx="292608" cy="292608"/>
          </a:xfrm>
          <a:prstGeom prst="rect">
            <a:avLst/>
          </a:prstGeom>
          <a:solidFill>
            <a:srgbClr val="2F5D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7792" y="202996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821"/>
                </a:solidFill>
              </a:rPr>
              <a:t>Panorama generation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A6475"/>
                </a:solidFill>
              </a:rPr>
              <a:t>Expand to 360° visual context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590288" y="2084832"/>
            <a:ext cx="310896" cy="0"/>
          </a:xfrm>
          <a:prstGeom prst="line">
            <a:avLst/>
          </a:prstGeom>
          <a:noFill/>
          <a:ln w="1905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83480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4" y="1609344"/>
            <a:ext cx="292608" cy="292608"/>
          </a:xfrm>
          <a:prstGeom prst="rect">
            <a:avLst/>
          </a:prstGeom>
          <a:solidFill>
            <a:srgbClr val="2F5D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48072" y="202996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821"/>
                </a:solidFill>
              </a:rPr>
              <a:t>Metric depth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6636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A6475"/>
                </a:solidFill>
              </a:rPr>
              <a:t>Lift pixels into 3D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30568" y="2084832"/>
            <a:ext cx="310896" cy="0"/>
          </a:xfrm>
          <a:prstGeom prst="line">
            <a:avLst/>
          </a:prstGeom>
          <a:noFill/>
          <a:ln w="1905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23760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609344"/>
            <a:ext cx="292608" cy="292608"/>
          </a:xfrm>
          <a:prstGeom prst="rect">
            <a:avLst/>
          </a:prstGeom>
          <a:solidFill>
            <a:srgbClr val="5B8C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88352" y="202996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821"/>
                </a:solidFill>
              </a:rPr>
              <a:t>Point-cloud inpainting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0664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A6475"/>
                </a:solidFill>
              </a:rPr>
              <a:t>Fill disocclusions under novel views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070848" y="2084832"/>
            <a:ext cx="310896" cy="0"/>
          </a:xfrm>
          <a:prstGeom prst="line">
            <a:avLst/>
          </a:prstGeom>
          <a:noFill/>
          <a:ln w="1905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64040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10344" y="1609344"/>
            <a:ext cx="292608" cy="292608"/>
          </a:xfrm>
          <a:prstGeom prst="rect">
            <a:avLst/>
          </a:prstGeom>
          <a:solidFill>
            <a:srgbClr val="5B8C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28632" y="202996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821"/>
                </a:solidFill>
              </a:rPr>
              <a:t>3D Gaussian Splats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4692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A6475"/>
                </a:solidFill>
              </a:rPr>
              <a:t>Real-time explorable world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188720" y="3657600"/>
            <a:ext cx="9738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31" name="Image 0" descr="/mnt/data/user-WffN4RxQCkRYLRNh7D9IRj0F__4c6e2ded-a526-47e1-b710-6cf012832df0/0df5816f9c8148b182f480a8fdc11b78/mnt/data/figs/recipe_p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4440" y="3703320"/>
            <a:ext cx="9646920" cy="16916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8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737B88"/>
                </a:solidFill>
              </a:rPr>
              <a:t>Pipeline components summarized from Schwarz et al., ICCV 2025.</a:t>
            </a:r>
            <a:endParaRPr lang="en-US" sz="6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method produces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Diverse, navigable visual worlds represented as 3D Gaussian Splats.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65836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7" name="Image 0" descr="/mnt/data/user-WffN4RxQCkRYLRNh7D9IRj0F__4c6e2ded-a526-47e1-b710-6cf012832df0/0df5816f9c8148b182f480a8fdc11b78/mnt/data/figs/recipe_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005840"/>
            <a:ext cx="6492240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8C"/>
                </a:solidFill>
              </a:rPr>
              <a:t>Output qualities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00" dirty="0">
                <a:solidFill>
                  <a:srgbClr val="151821"/>
                </a:solidFill>
              </a:rPr>
              <a:t>Wide-field 360° visual context from a single input image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2668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00" dirty="0">
                <a:solidFill>
                  <a:srgbClr val="151821"/>
                </a:solidFill>
              </a:rPr>
              <a:t>Explicit 3D representation rather than only a generated video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26680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00" dirty="0">
                <a:solidFill>
                  <a:srgbClr val="151821"/>
                </a:solidFill>
              </a:rPr>
              <a:t>Interactive rendering via 3D Gaussian Splatting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2668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00" dirty="0">
                <a:solidFill>
                  <a:srgbClr val="151821"/>
                </a:solidFill>
              </a:rPr>
              <a:t>Designed for immersive viewing, not yet full physical simulation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43800" y="434340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4ECE6"/>
          </a:solidFill>
          <a:ln w="12700">
            <a:solidFill>
              <a:srgbClr val="E5C6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4572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B3B"/>
                </a:solidFill>
              </a:rPr>
              <a:t>Interpretation: strong visual-world generation, partial physical world modeling.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9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737B88"/>
                </a:solidFill>
              </a:rPr>
              <a:t>Example outputs from Schwarz et al., ICCV 2025.</a:t>
            </a:r>
            <a:endParaRPr lang="en-US" sz="6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 and limitations of the route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A strong visual-world recipe, but not yet a physically complete world model.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1143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8C"/>
                </a:solidFill>
              </a:rPr>
              <a:t>Strengths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27632"/>
            <a:ext cx="73152" cy="82296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92224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Visual prior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157984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2D diffusion fills unseen areas with semantically plausible content.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670048"/>
            <a:ext cx="73152" cy="82296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83464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Geometric grounding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3200400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Depth and point clouds keep generation tied to camera movement.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712464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12464"/>
            <a:ext cx="73152" cy="822960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87705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Interactive rendering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4242816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3DGS gives a persistent scene representation for fast novel views.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1143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6B3B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1627632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627632"/>
            <a:ext cx="73152" cy="822960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1792224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Limited navigable scale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56248" y="2157984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The generated area is still local compared with a truly large world.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2670048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2670048"/>
            <a:ext cx="73152" cy="822960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283464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Occluded geometry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56248" y="3200400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Backsides and fully hidden structures remain hard to infer reliably.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3712464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3712464"/>
            <a:ext cx="73152" cy="822960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387705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Physics gap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56248" y="4242816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3DGS is a visual renderer, not a simulator with collision and dynamics.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 for the survey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How to position the ICCV 2025 paper in the literature.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 w="12700">
            <a:solidFill>
              <a:srgbClr val="C7D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8C"/>
                </a:solidFill>
              </a:rPr>
              <a:t>Central argument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88920" y="13533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1821"/>
                </a:solidFill>
              </a:rPr>
              <a:t>The most promising current route is not pure point cloud or pure video, but hybrid visual generation + geometric grounding + explicit Gaussian rendering.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60320"/>
            <a:ext cx="73152" cy="786384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72491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Historical 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090672"/>
            <a:ext cx="45720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Infinite Nature shows the render-refine-repeat pattern for single-image world extrapolation.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256032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560320"/>
            <a:ext cx="73152" cy="786384"/>
          </a:xfrm>
          <a:prstGeom prst="rect">
            <a:avLst/>
          </a:prstGeom>
          <a:solidFill>
            <a:srgbClr val="2F5D8C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72491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Main contribution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3090672"/>
            <a:ext cx="45720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A Recipe turns that idea into a persistent 3DGS world using panorama, depth, and point-cloud-conditioned inpainting.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70332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703320"/>
            <a:ext cx="73152" cy="786384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86791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233672"/>
            <a:ext cx="45720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The route aligns with application needs: visual plausibility, spatial coherence, and interactive rendering.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EE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0C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703320"/>
            <a:ext cx="73152" cy="786384"/>
          </a:xfrm>
          <a:prstGeom prst="rect">
            <a:avLst/>
          </a:prstGeom>
          <a:solidFill>
            <a:srgbClr val="B86B3B"/>
          </a:solidFill>
          <a:ln w="12700">
            <a:solidFill>
              <a:srgbClr val="B86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386791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21"/>
                </a:solidFill>
              </a:rPr>
              <a:t>Open frontier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64808" y="4233672"/>
            <a:ext cx="45720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</a:rPr>
              <a:t>Future work must add larger scale, object-level structure, and physical interaction.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5"/>
                </a:solidFill>
              </a:rPr>
              <a:t>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737B88"/>
                </a:solidFill>
              </a:rPr>
              <a:t>Recommended main paper: Schwarz et al., ICCV 2025; early foundation: Liu et al., ICCV 2021.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Depth / Point-Cloud / 3DGS Route for 3D World Generation</dc:title>
  <dc:subject>Survey deck: single-image 3D world generation</dc:subject>
  <dc:creator>OpenAI</dc:creator>
  <cp:lastModifiedBy>OpenAI</cp:lastModifiedBy>
  <cp:revision>1</cp:revision>
  <dcterms:created xsi:type="dcterms:W3CDTF">2026-05-10T02:24:09Z</dcterms:created>
  <dcterms:modified xsi:type="dcterms:W3CDTF">2026-05-10T02:24:09Z</dcterms:modified>
</cp:coreProperties>
</file>